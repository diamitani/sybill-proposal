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-1835200"/>
            <a:ext cx="914400" cy="914400"/>
          </a:xfrm>
          <a:prstGeom prst="roundRect">
            <a:avLst>
              <a:gd name="adj" fmla="val 280000"/>
            </a:avLst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D4C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362200" y="4813250"/>
            <a:ext cx="2095500" cy="2165449"/>
          </a:xfrm>
          <a:prstGeom prst="roundRect">
            <a:avLst>
              <a:gd name="adj" fmla="val 10472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4813250"/>
            <a:ext cx="2095500" cy="2165449"/>
          </a:xfrm>
          <a:prstGeom prst="roundRect">
            <a:avLst>
              <a:gd name="adj" fmla="val 104727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-692200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Sybill x GTM Infrastructure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-387400"/>
            <a:ext cx="7924800" cy="370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0"/>
              </a:lnSpc>
              <a:buNone/>
            </a:pPr>
            <a:r>
              <a:rPr lang="en-US" sz="6480" b="1" dirty="0">
                <a:solidFill>
                  <a:srgbClr val="1DD4C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One-Month GTM Architecture Buildout</a:t>
            </a:r>
            <a:endParaRPr lang="en-US" sz="6480" dirty="0"/>
          </a:p>
        </p:txBody>
      </p:sp>
      <p:sp>
        <p:nvSpPr>
          <p:cNvPr id="7" name="Text 5"/>
          <p:cNvSpPr/>
          <p:nvPr/>
        </p:nvSpPr>
        <p:spPr>
          <a:xfrm>
            <a:off x="914400" y="3506688"/>
            <a:ext cx="7315200" cy="925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the sales system Sybill needs now: outbound automation, inbound routing, sales process, messaging, reporting, and post-call execution.</a:t>
            </a:r>
            <a:endParaRPr lang="en-US" sz="1620" dirty="0"/>
          </a:p>
        </p:txBody>
      </p:sp>
      <p:sp>
        <p:nvSpPr>
          <p:cNvPr id="8" name="Text 6"/>
          <p:cNvSpPr/>
          <p:nvPr/>
        </p:nvSpPr>
        <p:spPr>
          <a:xfrm>
            <a:off x="2575471" y="5026521"/>
            <a:ext cx="17023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Engagement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2575471" y="5285482"/>
            <a:ext cx="17023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 days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2575471" y="5704582"/>
            <a:ext cx="166895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Operator-led implementation sprint</a:t>
            </a:r>
            <a:endParaRPr lang="en-US" sz="984" dirty="0"/>
          </a:p>
        </p:txBody>
      </p:sp>
      <p:sp>
        <p:nvSpPr>
          <p:cNvPr id="11" name="Text 9"/>
          <p:cNvSpPr/>
          <p:nvPr/>
        </p:nvSpPr>
        <p:spPr>
          <a:xfrm>
            <a:off x="4899571" y="5026521"/>
            <a:ext cx="17023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Primary outcome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4899571" y="5285482"/>
            <a:ext cx="1668959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 repeatable engine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4899571" y="6390382"/>
            <a:ext cx="1668959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984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From lead intake to rep execution</a:t>
            </a:r>
            <a:endParaRPr lang="en-US" sz="9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070646"/>
            <a:ext cx="1838325" cy="3039963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38425" y="2070646"/>
            <a:ext cx="1838325" cy="3039963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2070646"/>
            <a:ext cx="1838325" cy="3039963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96075" y="2070646"/>
            <a:ext cx="1838325" cy="3039963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5415409"/>
            <a:ext cx="7924800" cy="1276350"/>
          </a:xfrm>
          <a:prstGeom prst="roundRect">
            <a:avLst>
              <a:gd name="adj" fmla="val 171940"/>
            </a:avLst>
          </a:prstGeom>
          <a:solidFill>
            <a:srgbClr val="000000"/>
          </a:solidFill>
          <a:ln w="9525">
            <a:solidFill>
              <a:srgbClr val="000000"/>
            </a:solidFill>
          </a:ln>
        </p:spPr>
        <p:txBody>
          <a:bodyPr wrap="square" lIns="228600" tIns="228600" rIns="228600" bIns="2286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This proposal turns Sybill's current sales effort into an instrumented GTM machine: clear ICPs, clear messaging, one outbound engine, one inbound engine, and one post-call engine.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-1548259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now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609600" y="-1251198"/>
            <a:ext cx="7924800" cy="3017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940"/>
              </a:lnSpc>
              <a:buNone/>
            </a:pPr>
            <a:r>
              <a:rPr lang="en-US" sz="396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Sybill has product pull and growth, but the sales operating system is still forming.</a:t>
            </a:r>
            <a:endParaRPr lang="en-US" sz="3960" dirty="0"/>
          </a:p>
        </p:txBody>
      </p:sp>
      <p:sp>
        <p:nvSpPr>
          <p:cNvPr id="9" name="Text 7"/>
          <p:cNvSpPr/>
          <p:nvPr/>
        </p:nvSpPr>
        <p:spPr>
          <a:xfrm>
            <a:off x="822871" y="2283916"/>
            <a:ext cx="144001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Scale signal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822871" y="2542877"/>
            <a:ext cx="141178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$100K → $1M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22871" y="3381077"/>
            <a:ext cx="141178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ARR grew from $100K to $1M in 9 months after its pivot to AI copilot for sales.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51696" y="2283916"/>
            <a:ext cx="144001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Funding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2851696" y="2542877"/>
            <a:ext cx="1411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$11M Series A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851696" y="3762077"/>
            <a:ext cx="141178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Capital was raised in July 2024 to expand the AI sales assistant platform.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80521" y="2283916"/>
            <a:ext cx="144001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Customer base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880521" y="2542877"/>
            <a:ext cx="14400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750+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880521" y="3000077"/>
            <a:ext cx="141178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Sybill describes a fast-growing installed base and strong word-of-mouth motion.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09346" y="2283916"/>
            <a:ext cx="141178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Team implication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909346" y="2725638"/>
            <a:ext cx="1411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process now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6909346" y="3944838"/>
            <a:ext cx="141178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With a small sales team, process debt compounds quickly unless systems are standardized.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11660"/>
            <a:ext cx="3848100" cy="3893641"/>
          </a:xfrm>
          <a:prstGeom prst="roundRect">
            <a:avLst>
              <a:gd name="adj" fmla="val 5703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611660"/>
            <a:ext cx="3848100" cy="3893641"/>
          </a:xfrm>
          <a:prstGeom prst="roundRect">
            <a:avLst>
              <a:gd name="adj" fmla="val 5703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-361801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Current-state diagnosis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609600" y="-6474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gap is not tools. The gap is orchestration.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871" y="1824930"/>
            <a:ext cx="34899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exists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871" y="2282130"/>
            <a:ext cx="3421559" cy="300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Product-market momentum and compelling AI positioning.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Small sales pod with roughly 1 SDR and a handful of closers/AEs.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product narrative around revenue memory, AI follow-up, CRM autofill, and execution.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Modern GTM tools available or easy to connect: Clay, n8n, HubSpot/CRM, outreach tools, enrichment APIs.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9571" y="1824930"/>
            <a:ext cx="34899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missing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9571" y="2282130"/>
            <a:ext cx="3421559" cy="300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unified sales process from targeting to booked meeting to follow-up.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locked ICP hierarchy, persona rules, or messaging library by segment.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standardized automation workflow for prospecting, inbound triage, or post-call actioning.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reporting layer that lets founders inspect throughput, quality, and failure points daily.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10754"/>
            <a:ext cx="2489150" cy="2792611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350" y="1510754"/>
            <a:ext cx="2489150" cy="2792611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101" y="1510754"/>
            <a:ext cx="2489299" cy="279261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4608165"/>
            <a:ext cx="3848100" cy="1683841"/>
          </a:xfrm>
          <a:prstGeom prst="roundRect">
            <a:avLst>
              <a:gd name="adj" fmla="val 13033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1"/>
          <p:cNvSpPr/>
          <p:nvPr/>
        </p:nvSpPr>
        <p:spPr>
          <a:xfrm>
            <a:off x="4686300" y="4608165"/>
            <a:ext cx="3848100" cy="1683841"/>
          </a:xfrm>
          <a:prstGeom prst="roundRect">
            <a:avLst>
              <a:gd name="adj" fmla="val 130331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609600" y="-1148507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Deliverables</a:t>
            </a:r>
            <a:endParaRPr lang="en-US" sz="960" dirty="0"/>
          </a:p>
        </p:txBody>
      </p:sp>
      <p:sp>
        <p:nvSpPr>
          <p:cNvPr id="8" name="Text 3"/>
          <p:cNvSpPr/>
          <p:nvPr/>
        </p:nvSpPr>
        <p:spPr>
          <a:xfrm>
            <a:off x="609600" y="-851446"/>
            <a:ext cx="792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Three automation systems + the operating layer that makes them usable.</a:t>
            </a:r>
            <a:endParaRPr lang="en-US" sz="3600" dirty="0"/>
          </a:p>
        </p:txBody>
      </p:sp>
      <p:sp>
        <p:nvSpPr>
          <p:cNvPr id="9" name="Text 4"/>
          <p:cNvSpPr/>
          <p:nvPr/>
        </p:nvSpPr>
        <p:spPr>
          <a:xfrm>
            <a:off x="771525" y="1672679"/>
            <a:ext cx="22086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01</a:t>
            </a:r>
            <a:endParaRPr lang="en-US" sz="960" dirty="0"/>
          </a:p>
        </p:txBody>
      </p:sp>
      <p:sp>
        <p:nvSpPr>
          <p:cNvPr id="10" name="Text 5"/>
          <p:cNvSpPr/>
          <p:nvPr/>
        </p:nvSpPr>
        <p:spPr>
          <a:xfrm>
            <a:off x="771525" y="1969740"/>
            <a:ext cx="2165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Prospect outbound automation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71525" y="2998440"/>
            <a:ext cx="2165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Lead input → enrichment → account research → persona mapping → AI draft → sequence enrollment → reporting.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489275" y="1672679"/>
            <a:ext cx="220860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02</a:t>
            </a:r>
            <a:endParaRPr lang="en-US" sz="960" dirty="0"/>
          </a:p>
        </p:txBody>
      </p:sp>
      <p:sp>
        <p:nvSpPr>
          <p:cNvPr id="13" name="Text 8"/>
          <p:cNvSpPr/>
          <p:nvPr/>
        </p:nvSpPr>
        <p:spPr>
          <a:xfrm>
            <a:off x="3489275" y="1969740"/>
            <a:ext cx="21653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Prospect inbound automation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489275" y="2998440"/>
            <a:ext cx="21653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 intake → intent classification → routing → CRM updates → first response draft → owner assignment → SLA tracking.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07026" y="1672679"/>
            <a:ext cx="220875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03</a:t>
            </a:r>
            <a:endParaRPr lang="en-US" sz="960" dirty="0"/>
          </a:p>
        </p:txBody>
      </p:sp>
      <p:sp>
        <p:nvSpPr>
          <p:cNvPr id="16" name="Text 11"/>
          <p:cNvSpPr/>
          <p:nvPr/>
        </p:nvSpPr>
        <p:spPr>
          <a:xfrm>
            <a:off x="6207026" y="1969740"/>
            <a:ext cx="216544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Post-sales-call automation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207026" y="2693640"/>
            <a:ext cx="216544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Call event → summary → MEDDPICC/BANT fielding → next-step tasking → follow-up email draft → manager visibility.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2871" y="4821436"/>
            <a:ext cx="34899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Strategic layer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2871" y="5164336"/>
            <a:ext cx="3421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ICPs, buyer personas, unique value proposition framing, sales playbook, messaging guidelines, prompts, and sequence strategy.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899571" y="4821436"/>
            <a:ext cx="34899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Systems layer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99571" y="5164336"/>
            <a:ext cx="3421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CRM fields, routing rules, domains and inbox warm-up plan, tool integrations, dashboards, QA rules, and ownership model.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52116"/>
            <a:ext cx="1193750" cy="2898279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750" y="1452116"/>
            <a:ext cx="1193750" cy="289827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1901" y="1452116"/>
            <a:ext cx="1193899" cy="289827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452116"/>
            <a:ext cx="1193750" cy="2898279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350" y="1452116"/>
            <a:ext cx="1193750" cy="289827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501" y="1452116"/>
            <a:ext cx="1193899" cy="2898279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609600" y="4655195"/>
            <a:ext cx="7924800" cy="1009650"/>
          </a:xfrm>
          <a:prstGeom prst="roundRect">
            <a:avLst>
              <a:gd name="adj" fmla="val 217358"/>
            </a:avLst>
          </a:prstGeom>
          <a:solidFill>
            <a:srgbClr val="1DD4C3">
              <a:alpha val="7000"/>
            </a:srgbClr>
          </a:solidFill>
          <a:ln w="9525">
            <a:solidFill>
              <a:srgbClr val="1DD4C3"/>
            </a:solidFill>
          </a:ln>
        </p:spPr>
        <p:txBody>
          <a:bodyPr wrap="square" lIns="228600" tIns="228600" rIns="228600" bIns="2286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Phase 1 build: one production-grade email automation that starts with leads and ends with a personalized draft ready for sequence enrollment.</a:t>
            </a:r>
            <a:endParaRPr lang="en-US" sz="1350" dirty="0"/>
          </a:p>
        </p:txBody>
      </p:sp>
      <p:sp>
        <p:nvSpPr>
          <p:cNvPr id="9" name="Text 1"/>
          <p:cNvSpPr/>
          <p:nvPr/>
        </p:nvSpPr>
        <p:spPr>
          <a:xfrm>
            <a:off x="609600" y="-521345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Outbound architecture</a:t>
            </a:r>
            <a:endParaRPr lang="en-US" sz="960" dirty="0"/>
          </a:p>
        </p:txBody>
      </p:sp>
      <p:sp>
        <p:nvSpPr>
          <p:cNvPr id="10" name="Text 2"/>
          <p:cNvSpPr/>
          <p:nvPr/>
        </p:nvSpPr>
        <p:spPr>
          <a:xfrm>
            <a:off x="609600" y="-224284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Prospect outbound automation workflow</a:t>
            </a:r>
            <a:endParaRPr lang="en-US" sz="3600" dirty="0"/>
          </a:p>
        </p:txBody>
      </p:sp>
      <p:sp>
        <p:nvSpPr>
          <p:cNvPr id="11" name="Text 3"/>
          <p:cNvSpPr/>
          <p:nvPr/>
        </p:nvSpPr>
        <p:spPr>
          <a:xfrm>
            <a:off x="771525" y="1614041"/>
            <a:ext cx="887298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1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1</a:t>
            </a:r>
            <a:endParaRPr lang="en-US" sz="960" dirty="0"/>
          </a:p>
        </p:txBody>
      </p:sp>
      <p:sp>
        <p:nvSpPr>
          <p:cNvPr id="12" name="Text 4"/>
          <p:cNvSpPr/>
          <p:nvPr/>
        </p:nvSpPr>
        <p:spPr>
          <a:xfrm>
            <a:off x="771525" y="1864370"/>
            <a:ext cx="869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Lead feed</a:t>
            </a:r>
            <a:endParaRPr lang="en-US" sz="1350" dirty="0"/>
          </a:p>
        </p:txBody>
      </p:sp>
      <p:sp>
        <p:nvSpPr>
          <p:cNvPr id="13" name="Text 5"/>
          <p:cNvSpPr/>
          <p:nvPr/>
        </p:nvSpPr>
        <p:spPr>
          <a:xfrm>
            <a:off x="771525" y="2473970"/>
            <a:ext cx="8699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Upload target accounts or trigger from intent, lists, or CRM views.</a:t>
            </a:r>
            <a:endParaRPr lang="en-US" sz="1050" dirty="0"/>
          </a:p>
        </p:txBody>
      </p:sp>
      <p:sp>
        <p:nvSpPr>
          <p:cNvPr id="14" name="Text 6"/>
          <p:cNvSpPr/>
          <p:nvPr/>
        </p:nvSpPr>
        <p:spPr>
          <a:xfrm>
            <a:off x="2117675" y="1614041"/>
            <a:ext cx="887298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1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2</a:t>
            </a:r>
            <a:endParaRPr lang="en-US" sz="960" dirty="0"/>
          </a:p>
        </p:txBody>
      </p:sp>
      <p:sp>
        <p:nvSpPr>
          <p:cNvPr id="15" name="Text 7"/>
          <p:cNvSpPr/>
          <p:nvPr/>
        </p:nvSpPr>
        <p:spPr>
          <a:xfrm>
            <a:off x="2117675" y="1864370"/>
            <a:ext cx="869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Clay enrichment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2117675" y="2473970"/>
            <a:ext cx="8699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Find contacts, titles, emails, firmographics, signals, and account metadata.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3463826" y="1614041"/>
            <a:ext cx="887450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1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3</a:t>
            </a:r>
            <a:endParaRPr lang="en-US" sz="960" dirty="0"/>
          </a:p>
        </p:txBody>
      </p:sp>
      <p:sp>
        <p:nvSpPr>
          <p:cNvPr id="18" name="Text 10"/>
          <p:cNvSpPr/>
          <p:nvPr/>
        </p:nvSpPr>
        <p:spPr>
          <a:xfrm>
            <a:off x="3463826" y="1864370"/>
            <a:ext cx="8700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agent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3463826" y="2473970"/>
            <a:ext cx="870049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account brief, likely pain points, recent trigger events, and relevance angle.</a:t>
            </a:r>
            <a:endParaRPr lang="en-US" sz="1050" dirty="0"/>
          </a:p>
        </p:txBody>
      </p:sp>
      <p:sp>
        <p:nvSpPr>
          <p:cNvPr id="20" name="Text 12"/>
          <p:cNvSpPr/>
          <p:nvPr/>
        </p:nvSpPr>
        <p:spPr>
          <a:xfrm>
            <a:off x="4810125" y="1614041"/>
            <a:ext cx="887298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1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4</a:t>
            </a:r>
            <a:endParaRPr lang="en-US" sz="960" dirty="0"/>
          </a:p>
        </p:txBody>
      </p:sp>
      <p:sp>
        <p:nvSpPr>
          <p:cNvPr id="21" name="Text 13"/>
          <p:cNvSpPr/>
          <p:nvPr/>
        </p:nvSpPr>
        <p:spPr>
          <a:xfrm>
            <a:off x="4810125" y="1864370"/>
            <a:ext cx="869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Messaging agent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4810125" y="2473970"/>
            <a:ext cx="8699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Draft email variant based on ICP, persona, proof point, and CTA rule.</a:t>
            </a:r>
            <a:endParaRPr lang="en-US" sz="1050" dirty="0"/>
          </a:p>
        </p:txBody>
      </p:sp>
      <p:sp>
        <p:nvSpPr>
          <p:cNvPr id="23" name="Text 15"/>
          <p:cNvSpPr/>
          <p:nvPr/>
        </p:nvSpPr>
        <p:spPr>
          <a:xfrm>
            <a:off x="6156275" y="1614041"/>
            <a:ext cx="887298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1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5</a:t>
            </a:r>
            <a:endParaRPr lang="en-US" sz="960" dirty="0"/>
          </a:p>
        </p:txBody>
      </p:sp>
      <p:sp>
        <p:nvSpPr>
          <p:cNvPr id="24" name="Text 16"/>
          <p:cNvSpPr/>
          <p:nvPr/>
        </p:nvSpPr>
        <p:spPr>
          <a:xfrm>
            <a:off x="6156275" y="1864370"/>
            <a:ext cx="869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Send / sequence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6156275" y="2473970"/>
            <a:ext cx="8699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Push to outreach platform or send through workflow with guardrails.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7502426" y="1614041"/>
            <a:ext cx="887450" cy="17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71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 6</a:t>
            </a:r>
            <a:endParaRPr lang="en-US" sz="960" dirty="0"/>
          </a:p>
        </p:txBody>
      </p:sp>
      <p:sp>
        <p:nvSpPr>
          <p:cNvPr id="27" name="Text 19"/>
          <p:cNvSpPr/>
          <p:nvPr/>
        </p:nvSpPr>
        <p:spPr>
          <a:xfrm>
            <a:off x="7502426" y="1864370"/>
            <a:ext cx="87004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Track + report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7502426" y="2473970"/>
            <a:ext cx="870049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Sync status, replies, meetings, bounce rate, and workflow health back to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11610"/>
            <a:ext cx="3848100" cy="4693741"/>
          </a:xfrm>
          <a:prstGeom prst="roundRect">
            <a:avLst>
              <a:gd name="adj" fmla="val 5703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211610"/>
            <a:ext cx="3848100" cy="4693741"/>
          </a:xfrm>
          <a:prstGeom prst="roundRect">
            <a:avLst>
              <a:gd name="adj" fmla="val 5703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-761851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Inbound architecture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609600" y="-46479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Prospect inbound automation workflow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871" y="1424880"/>
            <a:ext cx="342155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Modeled on proven inbound triage 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871" y="2148780"/>
            <a:ext cx="34215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Atlas case study in this project shows a working pattern: form intake, AI intent classification, CRM correction logic, and same-second personalized draft response.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871" y="3215580"/>
            <a:ext cx="3421559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 every inbound form with webhook reliability.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Classify real intent from free-text message, not just dropdown selection.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Write clean CRM state only when correction is needed.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Draft the first response in brand-safe tone with routing context.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9571" y="1424880"/>
            <a:ext cx="34899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Sybill-specific application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9571" y="1882080"/>
            <a:ext cx="3421559" cy="300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Route by buyer type: AE leader, RevOps, sales manager, founder-led sales, CS.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Separate demo intent from partnerships, support, candidate, and general inbound.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Auto-assign owner, SLA, lifecycle stage, and follow-up status.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Push response draft into CRM and notify the right rep instantly.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06885"/>
            <a:ext cx="2489150" cy="2179141"/>
          </a:xfrm>
          <a:prstGeom prst="roundRect">
            <a:avLst>
              <a:gd name="adj" fmla="val 1007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1506885"/>
            <a:ext cx="2489150" cy="2179141"/>
          </a:xfrm>
          <a:prstGeom prst="roundRect">
            <a:avLst>
              <a:gd name="adj" fmla="val 1007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1506885"/>
            <a:ext cx="2489299" cy="2179141"/>
          </a:xfrm>
          <a:prstGeom prst="roundRect">
            <a:avLst>
              <a:gd name="adj" fmla="val 10070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990826"/>
            <a:ext cx="3848100" cy="161925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3990826"/>
            <a:ext cx="3848100" cy="1619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600" y="-466576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Post-call architecture</a:t>
            </a:r>
            <a:endParaRPr lang="en-US" sz="960" dirty="0"/>
          </a:p>
        </p:txBody>
      </p:sp>
      <p:sp>
        <p:nvSpPr>
          <p:cNvPr id="8" name="Text 4"/>
          <p:cNvSpPr/>
          <p:nvPr/>
        </p:nvSpPr>
        <p:spPr>
          <a:xfrm>
            <a:off x="609600" y="-16951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Post-sales-call automation workflow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822871" y="1720155"/>
            <a:ext cx="2103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2871" y="2101155"/>
            <a:ext cx="206260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Meeting event or recording triggers a workflow to ingest transcript, participants, deal context, and CRM record.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540621" y="1720155"/>
            <a:ext cx="21038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40621" y="2101155"/>
            <a:ext cx="206260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extracts summary, action items, blockers, MEDDPICC/BANT notes, next meeting, risks, and buying signals.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258371" y="1720155"/>
            <a:ext cx="21040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Execute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258371" y="2101155"/>
            <a:ext cx="20627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Send follow-up draft, update CRM, open tasks, notify manager, and log enablement insights for reuse.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71525" y="4152751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this matters for Sybill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71525" y="4533751"/>
            <a:ext cx="3524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Sybill's own product story is about turning context into action. The internal sales process should mirror that promise and become a live proof point.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48225" y="4152751"/>
            <a:ext cx="35947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result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48225" y="4533751"/>
            <a:ext cx="3524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Every call ends with the same standard of execution, not a rep-by-rep memory test.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12689"/>
            <a:ext cx="2514600" cy="1950541"/>
          </a:xfrm>
          <a:prstGeom prst="roundRect">
            <a:avLst>
              <a:gd name="adj" fmla="val 11251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14700" y="1512689"/>
            <a:ext cx="2514600" cy="1950541"/>
          </a:xfrm>
          <a:prstGeom prst="roundRect">
            <a:avLst>
              <a:gd name="adj" fmla="val 11251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19800" y="1512689"/>
            <a:ext cx="2514600" cy="1950541"/>
          </a:xfrm>
          <a:prstGeom prst="roundRect">
            <a:avLst>
              <a:gd name="adj" fmla="val 11251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653730"/>
            <a:ext cx="2514600" cy="1950541"/>
          </a:xfrm>
          <a:prstGeom prst="roundRect">
            <a:avLst>
              <a:gd name="adj" fmla="val 11251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14700" y="3653730"/>
            <a:ext cx="2514600" cy="1950541"/>
          </a:xfrm>
          <a:prstGeom prst="roundRect">
            <a:avLst>
              <a:gd name="adj" fmla="val 11251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19800" y="3653730"/>
            <a:ext cx="2514600" cy="1950541"/>
          </a:xfrm>
          <a:prstGeom prst="roundRect">
            <a:avLst>
              <a:gd name="adj" fmla="val 11251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-460772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Strategy assets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609600" y="-163711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strategic foundation built in parallel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871" y="1725960"/>
            <a:ext cx="2129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ICP design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871" y="2106960"/>
            <a:ext cx="20880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segment hierarchy, buying triggers, qualification rules, exclusions, and priority scoring.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7971" y="1725960"/>
            <a:ext cx="2129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7971" y="2106960"/>
            <a:ext cx="20880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Map pains, motivations, objections, goals, and proof points for each buyer role.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3071" y="1725960"/>
            <a:ext cx="2129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USP framing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33071" y="2106960"/>
            <a:ext cx="20880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Translate Sybill from “AI note taker” to “revenue memory + execution layer” with sharper contrast.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871" y="3867001"/>
            <a:ext cx="2129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Messaging rules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871" y="4248001"/>
            <a:ext cx="20880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email frameworks, CTA logic, tone controls, and personalization boundaries by ICP.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7971" y="3867001"/>
            <a:ext cx="2129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Sales playbook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27971" y="4248001"/>
            <a:ext cx="208805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Document stages, handoffs, talk tracks, qualification standards, follow-up SLAs, and rep behaviors.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3071" y="3867001"/>
            <a:ext cx="21298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Prompt library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33071" y="4248001"/>
            <a:ext cx="208805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prompt, email prompt, call-summary prompt, and QA prompt for reliable outputs.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7810"/>
            <a:ext cx="3848100" cy="4541341"/>
          </a:xfrm>
          <a:prstGeom prst="roundRect">
            <a:avLst>
              <a:gd name="adj" fmla="val 5703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287810"/>
            <a:ext cx="3848100" cy="4541341"/>
          </a:xfrm>
          <a:prstGeom prst="roundRect">
            <a:avLst>
              <a:gd name="adj" fmla="val 57030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-685651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scope</a:t>
            </a:r>
            <a:endParaRPr lang="en-US" sz="960" dirty="0"/>
          </a:p>
        </p:txBody>
      </p:sp>
      <p:sp>
        <p:nvSpPr>
          <p:cNvPr id="5" name="Text 3"/>
          <p:cNvSpPr/>
          <p:nvPr/>
        </p:nvSpPr>
        <p:spPr>
          <a:xfrm>
            <a:off x="609600" y="-38859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gets configured in the month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871" y="1501080"/>
            <a:ext cx="34899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Systems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871" y="1958280"/>
            <a:ext cx="3421559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CRM connection and required properties.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Clay or equivalent enrichment table and logic.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n8n orchestration for one outbound flow, one inbound flow, one post-call flow.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Outreach platform integration for sequence enrollment or direct email send.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Reporting dashboard with operational and leadership views.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899571" y="1501080"/>
            <a:ext cx="34899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9571" y="1958280"/>
            <a:ext cx="3421559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Inbox/domain warm-up plan and account structure.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Sequence and cadence recommendations.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Sales guidelines for SDR + AE workflow.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QA checklist for prompts, research quality, and sending controls.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Operator handoff documentation so the system can scale after month one.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58379"/>
            <a:ext cx="1838325" cy="3314402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638425" y="1558379"/>
            <a:ext cx="1838325" cy="3314402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67250" y="1558379"/>
            <a:ext cx="1838325" cy="3314402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96075" y="1558379"/>
            <a:ext cx="1838325" cy="3314402"/>
          </a:xfrm>
          <a:prstGeom prst="roundRect">
            <a:avLst>
              <a:gd name="adj" fmla="val 11937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70718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Timeline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609600" y="567779"/>
            <a:ext cx="8083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30-day implementation plan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871" y="1771650"/>
            <a:ext cx="144001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1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822871" y="2030611"/>
            <a:ext cx="1411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Diagnose + design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871" y="2754511"/>
            <a:ext cx="14117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Audit stack, align on ICPs, map data model, finalize tool decisions, and lock success metrics.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51696" y="1771650"/>
            <a:ext cx="144001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2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2851696" y="2030611"/>
            <a:ext cx="1411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outbound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51696" y="2754511"/>
            <a:ext cx="1411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lead-to-email workflow, prompts, enrichment, sequence connection, and domain warm-up setup.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80521" y="1771650"/>
            <a:ext cx="144001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3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880521" y="2030611"/>
            <a:ext cx="1411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inbound + post-call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80521" y="3059311"/>
            <a:ext cx="1411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 routing, draft response logic, CRM updates, post-call summary/action workflow, and playbook drafts.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09346" y="1771650"/>
            <a:ext cx="144001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Week 4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6909346" y="2030611"/>
            <a:ext cx="1411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Report + handoff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09346" y="2754511"/>
            <a:ext cx="14117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Dashboard, QA tuning, rep training, documentation, and founder review of next iteration backlog.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35460"/>
            <a:ext cx="3829050" cy="4046041"/>
          </a:xfrm>
          <a:prstGeom prst="roundRect">
            <a:avLst>
              <a:gd name="adj" fmla="val 5731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2871" y="2510730"/>
            <a:ext cx="3402509" cy="171450"/>
          </a:xfrm>
          <a:prstGeom prst="roundRect">
            <a:avLst>
              <a:gd name="adj" fmla="val 53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22871" y="3101280"/>
            <a:ext cx="3402509" cy="171450"/>
          </a:xfrm>
          <a:prstGeom prst="roundRect">
            <a:avLst>
              <a:gd name="adj" fmla="val 53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871" y="3691830"/>
            <a:ext cx="3402509" cy="171450"/>
          </a:xfrm>
          <a:prstGeom prst="roundRect">
            <a:avLst>
              <a:gd name="adj" fmla="val 53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871" y="4282380"/>
            <a:ext cx="3402509" cy="171450"/>
          </a:xfrm>
          <a:prstGeom prst="roundRect">
            <a:avLst>
              <a:gd name="adj" fmla="val 533280000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05350" y="1535460"/>
            <a:ext cx="3829050" cy="4046041"/>
          </a:xfrm>
          <a:prstGeom prst="roundRect">
            <a:avLst>
              <a:gd name="adj" fmla="val 57313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-438001"/>
            <a:ext cx="80832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Measurement</a:t>
            </a:r>
            <a:endParaRPr lang="en-US" sz="960" dirty="0"/>
          </a:p>
        </p:txBody>
      </p:sp>
      <p:sp>
        <p:nvSpPr>
          <p:cNvPr id="9" name="Text 7"/>
          <p:cNvSpPr/>
          <p:nvPr/>
        </p:nvSpPr>
        <p:spPr>
          <a:xfrm>
            <a:off x="609600" y="-140940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the dashboard should show every day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871" y="1748730"/>
            <a:ext cx="34705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Operational metrics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871" y="2244030"/>
            <a:ext cx="15194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Workflow success 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17144" y="2244030"/>
            <a:ext cx="41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95%+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871" y="2834580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Enrichment coverage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17144" y="2834580"/>
            <a:ext cx="41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85%+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871" y="3425130"/>
            <a:ext cx="2150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Sequence enrollment readiness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17144" y="3425130"/>
            <a:ext cx="41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80%+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871" y="4015680"/>
            <a:ext cx="171964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Post-call CRM completion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17144" y="4015680"/>
            <a:ext cx="41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90%+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18621" y="1748730"/>
            <a:ext cx="34705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Business metrics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18621" y="2244030"/>
            <a:ext cx="3402509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Accounts processed and contacts created.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Email send volume, bounce rate, open rate, and reply rate.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Meetings booked by rep, ICP, persona, and source.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Inbound speed-to-lead and routing accuracy.</a:t>
            </a:r>
            <a:endParaRPr lang="en-US" sz="135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Post-call SLA adherence and field completion quality.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324249"/>
            <a:ext cx="2489150" cy="2323802"/>
          </a:xfrm>
          <a:prstGeom prst="roundRect">
            <a:avLst>
              <a:gd name="adj" fmla="val 9443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50" y="2324249"/>
            <a:ext cx="2489150" cy="2323802"/>
          </a:xfrm>
          <a:prstGeom prst="roundRect">
            <a:avLst>
              <a:gd name="adj" fmla="val 9443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01" y="2324249"/>
            <a:ext cx="2489299" cy="2323802"/>
          </a:xfrm>
          <a:prstGeom prst="roundRect">
            <a:avLst>
              <a:gd name="adj" fmla="val 94438"/>
            </a:avLst>
          </a:prstGeom>
          <a:solidFill>
            <a:srgbClr val="1A1A2E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0352" y="-342751"/>
            <a:ext cx="808329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Engagement structure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600" y="-37951"/>
            <a:ext cx="792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0"/>
              </a:lnSpc>
              <a:buNone/>
            </a:pPr>
            <a:r>
              <a:rPr lang="en-US" sz="5400" b="1" dirty="0">
                <a:solidFill>
                  <a:srgbClr val="1DD4C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Recommended proposal framing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871" y="2537520"/>
            <a:ext cx="210386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Offer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822871" y="2796480"/>
            <a:ext cx="206260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1-month activation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871" y="3520380"/>
            <a:ext cx="20626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Focused buildout to stand up the GTM architecture and hand Sybill a usable operating system.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40621" y="2537520"/>
            <a:ext cx="210386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Role</a:t>
            </a:r>
            <a:endParaRPr lang="en-US" sz="960" dirty="0"/>
          </a:p>
        </p:txBody>
      </p:sp>
      <p:sp>
        <p:nvSpPr>
          <p:cNvPr id="11" name="Text 9"/>
          <p:cNvSpPr/>
          <p:nvPr/>
        </p:nvSpPr>
        <p:spPr>
          <a:xfrm>
            <a:off x="3540621" y="2796480"/>
            <a:ext cx="21038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GTM engineer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40621" y="3215580"/>
            <a:ext cx="206260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End-to-end builder across workflow logic, prompting, CRM design, reporting, and rep enablement.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58371" y="2537520"/>
            <a:ext cx="2104013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7FA5A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Outcome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6258371" y="2796480"/>
            <a:ext cx="206275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ECFFF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Repeatable revenue motion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58371" y="3520380"/>
            <a:ext cx="20627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foundation that can scale with more reps, more segments, and more automation later.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952851"/>
            <a:ext cx="7315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7D8D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Position this as a fast, founder-friendly build sprint: not a strategy memo, but a working GTM system.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2026-05-05T03:02:56Z</dcterms:created>
  <dcterms:modified xsi:type="dcterms:W3CDTF">2026-05-05T03:02:56Z</dcterms:modified>
</cp:coreProperties>
</file>